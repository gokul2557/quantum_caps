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b="1" sz="4400">
                <a:solidFill>
                  <a:srgbClr val="FFFFFF"/>
                </a:solidFill>
              </a:defRPr>
            </a:pPr>
            <a:r>
              <a:t>Quantum AI-Based Fraud</a:t>
            </a:r>
            <a:br/>
            <a:r>
              <a:t>Detection System</a:t>
            </a:r>
          </a:p>
          <a:p>
            <a:pPr>
              <a:spcAft>
                <a:spcPts val="3600"/>
              </a:spcAft>
              <a:defRPr sz="2400">
                <a:solidFill>
                  <a:srgbClr val="00E5FF"/>
                </a:solidFill>
              </a:defRPr>
            </a:pPr>
            <a:r>
              <a:t>Identifying suspicious financial transactions in real time</a:t>
            </a:r>
          </a:p>
          <a:p>
            <a:pPr>
              <a:defRPr sz="1600">
                <a:solidFill>
                  <a:srgbClr val="D1D5DB"/>
                </a:solidFill>
              </a:defRPr>
            </a:pPr>
            <a:r>
              <a:t>Presented by:</a:t>
            </a:r>
            <a:br/>
            <a:r>
              <a:t>CH.SC.U4CSE24127</a:t>
            </a:r>
            <a:br/>
            <a:r>
              <a:t>CH.SC.U4CSE24121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4937760" cy="3291840"/>
          </a:xfrm>
          <a:prstGeom prst="roundRect">
            <a:avLst/>
          </a:prstGeom>
          <a:solidFill>
            <a:srgbClr val="2D1B4E"/>
          </a:solidFill>
          <a:ln w="19050">
            <a:solidFill>
              <a:srgbClr val="4F2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E5FF"/>
                </a:solidFill>
              </a:defRPr>
            </a:pPr>
            <a:r>
              <a:t>What is the problem?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• Fraudulent transactions hide inside millions of genuine ones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• Fraud patterns constantly evolve and adapt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• Severe class imbalance: only ~0.1%–7% transactions are fraud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• High dimensionality and non-linear feature correlations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4937760" cy="3291840"/>
          </a:xfrm>
          <a:prstGeom prst="roundRect">
            <a:avLst/>
          </a:prstGeom>
          <a:solidFill>
            <a:srgbClr val="2D1B4E"/>
          </a:solidFill>
          <a:ln w="19050">
            <a:solidFill>
              <a:srgbClr val="4F2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E5FF"/>
                </a:solidFill>
              </a:defRPr>
            </a:pPr>
            <a:r>
              <a:t>Why solve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• Card, UPI, and online fraud cause billions in losses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• Fraud must be flagged in milliseconds before settlement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• Classical linear models struggle with non-linear feature overlaps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• Reduces costly false-positive alarms for financial institutions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846320"/>
            <a:ext cx="10332720" cy="1554480"/>
          </a:xfrm>
          <a:prstGeom prst="roundRect">
            <a:avLst/>
          </a:prstGeom>
          <a:solidFill>
            <a:srgbClr val="2D1B4E"/>
          </a:solidFill>
          <a:ln w="19050">
            <a:solidFill>
              <a:srgbClr val="4F2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02920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E5FF"/>
                </a:solidFill>
              </a:defRPr>
            </a:pPr>
            <a:r>
              <a:t>Why does it matter?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6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1D5DB"/>
                </a:solidFill>
              </a:defRPr>
            </a:pPr>
            <a:r>
              <a:t>• Protects customer trust and prevents unauthorized account takeovers.</a:t>
            </a:r>
            <a:br/>
            <a:r>
              <a:t>• Demonstrates how Quantum Machine Learning (QML) operates in high-stakes, real-world finance.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</a:defRPr>
            </a:pPr>
            <a:r>
              <a:t>Objectives &amp; Technical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4937760" cy="2926080"/>
          </a:xfrm>
          <a:prstGeom prst="roundRect">
            <a:avLst/>
          </a:prstGeom>
          <a:solidFill>
            <a:srgbClr val="2D1B4E"/>
          </a:solidFill>
          <a:ln w="19050">
            <a:solidFill>
              <a:srgbClr val="4F2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E5FF"/>
                </a:solidFill>
              </a:defRPr>
            </a:pPr>
            <a:r>
              <a:t>How we solve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• Build a classifier that reliably labels transactions as Fraud (1) or Legit (0)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• Map classical transaction data into a high-dimensional Hilbert space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• Exploit quantum state overlap to separate complex decision boundaries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4937760" cy="2926080"/>
          </a:xfrm>
          <a:prstGeom prst="roundRect">
            <a:avLst/>
          </a:prstGeom>
          <a:solidFill>
            <a:srgbClr val="2D1B4E"/>
          </a:solidFill>
          <a:ln w="19050">
            <a:solidFill>
              <a:srgbClr val="4F2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E5FF"/>
                </a:solidFill>
              </a:defRPr>
            </a:pPr>
            <a:r>
              <a:t>Our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• Hybrid Classical-Quantum pipeline architecture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• Classical: cleaning, scaling, and feature selection (4 key features)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• Quantum: ZZ Feature Map encoding + Fidelity Quantum Kernel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0332720" cy="1920240"/>
          </a:xfrm>
          <a:prstGeom prst="roundRect">
            <a:avLst/>
          </a:prstGeom>
          <a:solidFill>
            <a:srgbClr val="2D1B4E"/>
          </a:solidFill>
          <a:ln w="19050">
            <a:solidFill>
              <a:srgbClr val="4F2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66344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E5FF"/>
                </a:solidFill>
              </a:defRPr>
            </a:pPr>
            <a:r>
              <a:t>Algorithm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12064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E5FF"/>
                </a:solidFill>
              </a:defRPr>
            </a:pPr>
            <a:r>
              <a:t>• Quantum Support Vector Machine (QSVM / QSVC)</a:t>
            </a:r>
            <a:br/>
            <a:r>
              <a:t>• Quantum Kernel: FidelityQuantumKernel with ZZFeatureMap (feature_dimension=4, reps=2)</a:t>
            </a:r>
            <a:br/>
            <a:r>
              <a:t>• Hardware / Backend: Local Quantum Statevector Simulator (Qiskit 2.x + Qiskit Aer)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</a:defRPr>
            </a:pPr>
            <a:r>
              <a:t>What is QSVM?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4937760" cy="5029200"/>
          </a:xfrm>
          <a:prstGeom prst="roundRect">
            <a:avLst/>
          </a:prstGeom>
          <a:solidFill>
            <a:srgbClr val="2D1B4E"/>
          </a:solidFill>
          <a:ln w="19050">
            <a:solidFill>
              <a:srgbClr val="4F2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E5FF"/>
                </a:solidFill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500">
                <a:solidFill>
                  <a:srgbClr val="D1D5DB"/>
                </a:solidFill>
              </a:defRPr>
            </a:pPr>
            <a:r>
              <a:t>A classical SVM finds the optimal hyper-plane separating two classes in a transformed feature space.</a:t>
            </a:r>
          </a:p>
          <a:p>
            <a:pPr>
              <a:spcAft>
                <a:spcPts val="1000"/>
              </a:spcAft>
              <a:defRPr sz="1500">
                <a:solidFill>
                  <a:srgbClr val="D1D5DB"/>
                </a:solidFill>
              </a:defRPr>
            </a:pPr>
            <a:r>
              <a:t>QSVM replaces the classical mathematical kernel (RBF / Polynomial) with a Quantum Kernel evaluated via a quantum circuit.</a:t>
            </a:r>
          </a:p>
          <a:p>
            <a:pPr>
              <a:spcAft>
                <a:spcPts val="1000"/>
              </a:spcAft>
              <a:defRPr sz="1500">
                <a:solidFill>
                  <a:srgbClr val="D1D5DB"/>
                </a:solidFill>
              </a:defRPr>
            </a:pPr>
            <a:r>
              <a:t>Transactions are mapped into a 16-dimensional quantum Hilbert space (4 qubits) using non-linear ZZ entanglement.</a:t>
            </a:r>
          </a:p>
          <a:p>
            <a:pPr>
              <a:spcAft>
                <a:spcPts val="1000"/>
              </a:spcAft>
              <a:defRPr sz="1500">
                <a:solidFill>
                  <a:srgbClr val="D1D5DB"/>
                </a:solidFill>
              </a:defRPr>
            </a:pPr>
            <a:r>
              <a:t>Quantum Kernel Similarity:</a:t>
            </a:r>
            <a:br/>
            <a:r>
              <a:t>K(xi, xj) = |&lt;phi(xj)|phi(xi)&gt;|^2</a:t>
            </a:r>
            <a:br/>
            <a:r>
              <a:t>measures transition fidelity between quantum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4937760" cy="5029200"/>
          </a:xfrm>
          <a:prstGeom prst="roundRect">
            <a:avLst/>
          </a:prstGeom>
          <a:solidFill>
            <a:srgbClr val="2D1B4E"/>
          </a:solidFill>
          <a:ln w="19050">
            <a:solidFill>
              <a:srgbClr val="4F2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E5FF"/>
                </a:solidFill>
              </a:defRPr>
            </a:pPr>
            <a:r>
              <a:t>7-Step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1. Ingest, clean, and scale financial transaction data.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2. Select / reduce to 4 core features for 4-qubit register.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3. Stratify and balance fraud vs. legitimate training batch.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4. Encode transactions using ZZ Feature Map (reps=2).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5. Execute quantum circuits to compute Kernel Matrix K.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6. Train classical Support Vector Classifier on matrix K.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7. Classify real-time incoming transactions: Fraud or Legit.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</a:defRPr>
            </a:pPr>
            <a:r>
              <a:t>Proposed Algorithm: Pseudocode &amp;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6217920" cy="5029200"/>
          </a:xfrm>
          <a:prstGeom prst="roundRect">
            <a:avLst/>
          </a:prstGeom>
          <a:solidFill>
            <a:srgbClr val="2D1B4E"/>
          </a:solidFill>
          <a:ln w="19050">
            <a:solidFill>
              <a:srgbClr val="4F2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E5FF"/>
                </a:solidFill>
              </a:defRPr>
            </a:pPr>
            <a:r>
              <a:t>Algorithm Pseudocode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5852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E5FF"/>
                </a:solidFill>
                <a:latin typeface="Consolas"/>
              </a:defRPr>
            </a:pPr>
            <a:r>
              <a:t>INPUT: Transactions D, Labels y in {0, 1}</a:t>
            </a:r>
            <a:br/>
            <a:br/>
            <a:r>
              <a:t>1. X_scaled &lt;- Preprocess_and_Scale(D)</a:t>
            </a:r>
            <a:br/>
            <a:r>
              <a:t>   X_q &lt;- Select_Features(X_scaled, 4 features)</a:t>
            </a:r>
            <a:br/>
            <a:br/>
            <a:r>
              <a:t>2. Split (X_train, y_train), (X_test, y_test)</a:t>
            </a:r>
            <a:br/>
            <a:br/>
            <a:r>
              <a:t>3. FOR each pair (x_i, x_j) in X_train:</a:t>
            </a:r>
            <a:br/>
            <a:r>
              <a:t>       Construct circuit U_phi(x_j)^dagger * U_phi(x_i)</a:t>
            </a:r>
            <a:br/>
            <a:r>
              <a:t>       Measure ground state probability |0000&gt;:</a:t>
            </a:r>
            <a:br/>
            <a:r>
              <a:t>       K[i, j] &lt;- |&lt;phi(x_j)|phi(x_i)&gt;|^2</a:t>
            </a:r>
            <a:br/>
            <a:br/>
            <a:r>
              <a:t>4. Train Dual SVM Classifier on kernel matrix K:</a:t>
            </a:r>
            <a:br/>
            <a:r>
              <a:t>       alpha* &lt;- argmin W(alpha) subject to constraints</a:t>
            </a:r>
            <a:br/>
            <a:br/>
            <a:r>
              <a:t>5. FOR new transaction t:</a:t>
            </a:r>
            <a:br/>
            <a:r>
              <a:t>       decision &lt;- SUM(alpha_i * y_i * K(x_i, t)) + b</a:t>
            </a:r>
            <a:br/>
            <a:r>
              <a:t>       Fraud_Risk_Score &lt;- Sigmoid(decision)</a:t>
            </a:r>
            <a:br/>
            <a:r>
              <a:t>       IF Fraud_Risk_Score &gt;= Threshold: FLAG FRAUD</a:t>
            </a:r>
            <a:br/>
            <a:r>
              <a:t>       ELSE: APPROVE TRANSACTION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280160"/>
            <a:ext cx="3840480" cy="5029200"/>
          </a:xfrm>
          <a:prstGeom prst="roundRect">
            <a:avLst/>
          </a:prstGeom>
          <a:solidFill>
            <a:srgbClr val="2D1B4E"/>
          </a:solidFill>
          <a:ln w="19050">
            <a:solidFill>
              <a:srgbClr val="4F2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4630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E5FF"/>
                </a:solidFill>
              </a:defRPr>
            </a:pPr>
            <a:r>
              <a:t>System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Incoming Transaction</a:t>
            </a:r>
          </a:p>
          <a:p>
            <a:pPr>
              <a:defRPr sz="1400" b="0">
                <a:solidFill>
                  <a:srgbClr val="A855F7"/>
                </a:solidFill>
              </a:defRPr>
            </a:pPr>
            <a:r>
              <a:t>        ↓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Feature Preprocessing</a:t>
            </a:r>
          </a:p>
          <a:p>
            <a:pPr>
              <a:defRPr sz="1400" b="0">
                <a:solidFill>
                  <a:srgbClr val="A855F7"/>
                </a:solidFill>
              </a:defRPr>
            </a:pPr>
            <a:r>
              <a:t>        ↓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4 Selected Features</a:t>
            </a:r>
          </a:p>
          <a:p>
            <a:pPr>
              <a:defRPr sz="1400" b="0">
                <a:solidFill>
                  <a:srgbClr val="A855F7"/>
                </a:solidFill>
              </a:defRPr>
            </a:pPr>
            <a:r>
              <a:t>        ↓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ZZ Quantum Feature Map</a:t>
            </a:r>
          </a:p>
          <a:p>
            <a:pPr>
              <a:defRPr sz="1400" b="0">
                <a:solidFill>
                  <a:srgbClr val="A855F7"/>
                </a:solidFill>
              </a:defRPr>
            </a:pPr>
            <a:r>
              <a:t>        ↓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Fidelity Quantum Kernel</a:t>
            </a:r>
          </a:p>
          <a:p>
            <a:pPr>
              <a:defRPr sz="1400" b="0">
                <a:solidFill>
                  <a:srgbClr val="A855F7"/>
                </a:solidFill>
              </a:defRPr>
            </a:pPr>
            <a:r>
              <a:t>        ↓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QSVC Classification</a:t>
            </a:r>
          </a:p>
          <a:p>
            <a:pPr>
              <a:defRPr sz="1400" b="0">
                <a:solidFill>
                  <a:srgbClr val="A855F7"/>
                </a:solidFill>
              </a:defRPr>
            </a:pPr>
            <a:r>
              <a:t>        ↓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Real-Time Fraud Alert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</a:defRPr>
            </a:pPr>
            <a:r>
              <a:t>Algorithm Complexity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3291840" cy="3108960"/>
          </a:xfrm>
          <a:prstGeom prst="roundRect">
            <a:avLst/>
          </a:prstGeom>
          <a:solidFill>
            <a:srgbClr val="2D1B4E"/>
          </a:solidFill>
          <a:ln w="19050">
            <a:solidFill>
              <a:srgbClr val="4F2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E5FF"/>
                </a:solidFill>
              </a:defRPr>
            </a:pPr>
            <a:r>
              <a:t>Time: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1D5DB"/>
                </a:solidFill>
              </a:defRPr>
            </a:pPr>
            <a:r>
              <a:t>• Kernel Matrix: O(N² · shots) circuit evaluations.</a:t>
            </a:r>
            <a:br/>
            <a:br/>
            <a:r>
              <a:t>• SVM Optimization: O(N²) to O(N³) quadratic programming solve.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291840" cy="3108960"/>
          </a:xfrm>
          <a:prstGeom prst="roundRect">
            <a:avLst/>
          </a:prstGeom>
          <a:solidFill>
            <a:srgbClr val="2D1B4E"/>
          </a:solidFill>
          <a:ln w="19050">
            <a:solidFill>
              <a:srgbClr val="4F2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63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E5FF"/>
                </a:solidFill>
              </a:defRPr>
            </a:pPr>
            <a:r>
              <a:t>Time: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1D5DB"/>
                </a:solidFill>
              </a:defRPr>
            </a:pPr>
            <a:r>
              <a:t>• O(M · shots) kernel evaluations per incoming transaction.</a:t>
            </a:r>
            <a:br/>
            <a:br/>
            <a:r>
              <a:t>• M = number of support vectors (M ≤ 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280160"/>
            <a:ext cx="3291840" cy="3108960"/>
          </a:xfrm>
          <a:prstGeom prst="roundRect">
            <a:avLst/>
          </a:prstGeom>
          <a:solidFill>
            <a:srgbClr val="2D1B4E"/>
          </a:solidFill>
          <a:ln w="19050">
            <a:solidFill>
              <a:srgbClr val="4F2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463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E5FF"/>
                </a:solidFill>
              </a:defRPr>
            </a:pPr>
            <a:r>
              <a:t>Space Complexity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01168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D1D5DB"/>
                </a:solidFill>
              </a:defRPr>
            </a:pPr>
            <a:r>
              <a:t>• O(N²) memory for storing the Gram matrix.</a:t>
            </a:r>
            <a:br/>
            <a:br/>
            <a:r>
              <a:t>• Only n = 4 qubits (16-dimensional quantum state space).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63440"/>
            <a:ext cx="10241280" cy="1737360"/>
          </a:xfrm>
          <a:prstGeom prst="roundRect">
            <a:avLst/>
          </a:prstGeom>
          <a:solidFill>
            <a:srgbClr val="2D1B4E"/>
          </a:solidFill>
          <a:ln w="19050">
            <a:solidFill>
              <a:srgbClr val="4F2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846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E5FF"/>
                </a:solidFill>
              </a:defRPr>
            </a:pPr>
            <a:r>
              <a:t>Why It Matters (Practical NISQ Considerations)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1208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1D5DB"/>
                </a:solidFill>
              </a:defRPr>
            </a:pPr>
            <a:r>
              <a:t>• N = training samples. The O(N²) kernel calculation is the main computational bottleneck, which is why we train on a representative subset.</a:t>
            </a:r>
            <a:br/>
            <a:r>
              <a:t>• Circuit depth remains shallow (2 repetitions), suitable for current NISQ devices without decoherence breakdown.</a:t>
            </a:r>
            <a:br/>
            <a:r>
              <a:t>• Honest academic note: No exponential quantum speedup is claimed over classical SVM; the key benefit is accessing a richer quantum feature Hilbert space.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</a:defRPr>
            </a:pPr>
            <a:r>
              <a:t>Implementation &amp;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4389120" cy="5029200"/>
          </a:xfrm>
          <a:prstGeom prst="roundRect">
            <a:avLst/>
          </a:prstGeom>
          <a:solidFill>
            <a:srgbClr val="2D1B4E"/>
          </a:solidFill>
          <a:ln w="19050">
            <a:solidFill>
              <a:srgbClr val="4F2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E5FF"/>
                </a:solidFill>
              </a:defRPr>
            </a:pPr>
            <a:r>
              <a:t>Tools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• Language: Python 3.13 / 3.11+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• Qiskit (2.4.2): Quantum circuits &amp; simulation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• Qiskit Aer (0.17.2): High-performance local quantum simulator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• qiskit-machine-learning (0.9.1): QSVC &amp; FidelityQuantumKernel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• scikit-learn (1.9.0): Preprocessing &amp; Classical SVM baseline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• Streamlit (1.65.0): Real-time interactive demonstration dashboard</a:t>
            </a:r>
          </a:p>
          <a:p>
            <a:pPr>
              <a:spcAft>
                <a:spcPts val="800"/>
              </a:spcAft>
              <a:defRPr sz="1500">
                <a:solidFill>
                  <a:srgbClr val="D1D5DB"/>
                </a:solidFill>
              </a:defRPr>
            </a:pPr>
            <a:r>
              <a:t>• Dataset: 5,000 Financial Transactions (Academic Synthetic Dataset)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280160"/>
            <a:ext cx="5669280" cy="5029200"/>
          </a:xfrm>
          <a:prstGeom prst="roundRect">
            <a:avLst/>
          </a:prstGeom>
          <a:solidFill>
            <a:srgbClr val="2D1B4E"/>
          </a:solidFill>
          <a:ln w="19050">
            <a:solidFill>
              <a:srgbClr val="4F2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463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E5FF"/>
                </a:solidFill>
              </a:defRPr>
            </a:pPr>
            <a:r>
              <a:t>Qiskit Machine Learning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E5FF"/>
                </a:solidFill>
                <a:latin typeface="Consolas"/>
              </a:defRPr>
            </a:pPr>
            <a:r>
              <a:t># 1. Define 4-qubit ZZ Feature Map</a:t>
            </a:r>
            <a:br/>
            <a:r>
              <a:t>fmap = ZZFeatureMap(feature_dimension=4, reps=2)</a:t>
            </a:r>
            <a:br/>
            <a:br/>
            <a:r>
              <a:t># 2. Build Quantum Fidelity Kernel</a:t>
            </a:r>
            <a:br/>
            <a:r>
              <a:t>qk = FidelityQuantumKernel(feature_map=fmap)</a:t>
            </a:r>
            <a:br/>
            <a:br/>
            <a:r>
              <a:t># 3. Instantiate Quantum Support Vector Classifier</a:t>
            </a:r>
            <a:br/>
            <a:r>
              <a:t>qsvc = QSVC(quantum_kernel=qk)</a:t>
            </a:r>
            <a:br/>
            <a:br/>
            <a:r>
              <a:t># 4. Fit on preprocessed training transactions</a:t>
            </a:r>
            <a:br/>
            <a:r>
              <a:t>qsvc.fit(X_train, y_train)</a:t>
            </a:r>
            <a:br/>
            <a:br/>
            <a:r>
              <a:t># 5. Predict on unseen test transactions</a:t>
            </a:r>
            <a:br/>
            <a:r>
              <a:t>y_pred = qsvc.predict(X_test)</a:t>
            </a:r>
            <a:br/>
            <a:br/>
            <a:r>
              <a:t># 6. Generate real-time Fraud Risk Score</a:t>
            </a:r>
            <a:br/>
            <a:r>
              <a:t>risk_score = qsvc.decision_function(new_txn)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</a:defRPr>
            </a:pPr>
            <a:r>
              <a:t>Results and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32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474720"/>
                <a:gridCol w="3474720"/>
              </a:tblGrid>
              <a:tr h="39624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E5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328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E5FF"/>
                          </a:solidFill>
                        </a:defRPr>
                      </a:pPr>
                      <a:r>
                        <a:t>Quantum QSVM (4-Qubit)</a:t>
                      </a:r>
                    </a:p>
                  </a:txBody>
                  <a:tcPr>
                    <a:solidFill>
                      <a:srgbClr val="4328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00E5FF"/>
                          </a:solidFill>
                        </a:defRPr>
                      </a:pPr>
                      <a:r>
                        <a:t>Classical SVM Baseline</a:t>
                      </a:r>
                    </a:p>
                  </a:txBody>
                  <a:tcPr>
                    <a:solidFill>
                      <a:srgbClr val="432873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D1B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89.67%</a:t>
                      </a:r>
                    </a:p>
                  </a:txBody>
                  <a:tcPr>
                    <a:solidFill>
                      <a:srgbClr val="2D1B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91.80%</a:t>
                      </a:r>
                    </a:p>
                  </a:txBody>
                  <a:tcPr>
                    <a:solidFill>
                      <a:srgbClr val="2D1B4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2D1B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28.57%</a:t>
                      </a:r>
                    </a:p>
                  </a:txBody>
                  <a:tcPr>
                    <a:solidFill>
                      <a:srgbClr val="2D1B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44.12%</a:t>
                      </a:r>
                    </a:p>
                  </a:txBody>
                  <a:tcPr>
                    <a:solidFill>
                      <a:srgbClr val="2D1B4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2D1B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14.28%</a:t>
                      </a:r>
                    </a:p>
                  </a:txBody>
                  <a:tcPr>
                    <a:solidFill>
                      <a:srgbClr val="2D1B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64.29%</a:t>
                      </a:r>
                    </a:p>
                  </a:txBody>
                  <a:tcPr>
                    <a:solidFill>
                      <a:srgbClr val="2D1B4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2D1B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0.1905</a:t>
                      </a:r>
                    </a:p>
                  </a:txBody>
                  <a:tcPr>
                    <a:solidFill>
                      <a:srgbClr val="2D1B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0.5263</a:t>
                      </a:r>
                    </a:p>
                  </a:txBody>
                  <a:tcPr>
                    <a:solidFill>
                      <a:srgbClr val="2D1B4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2D1B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0.5630</a:t>
                      </a:r>
                    </a:p>
                  </a:txBody>
                  <a:tcPr>
                    <a:solidFill>
                      <a:srgbClr val="2D1B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</a:defRPr>
                      </a:pPr>
                      <a:r>
                        <a:t>0.9124</a:t>
                      </a:r>
                    </a:p>
                  </a:txBody>
                  <a:tcPr>
                    <a:solidFill>
                      <a:srgbClr val="2D1B4E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4114800"/>
            <a:ext cx="10332720" cy="2286000"/>
          </a:xfrm>
          <a:prstGeom prst="roundRect">
            <a:avLst/>
          </a:prstGeom>
          <a:solidFill>
            <a:srgbClr val="2D1B4E"/>
          </a:solidFill>
          <a:ln w="19050">
            <a:solidFill>
              <a:srgbClr val="4F2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29768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E5FF"/>
                </a:solidFill>
              </a:defRPr>
            </a:pPr>
            <a:r>
              <a:t>Observations &amp; Academic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66344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• Class Imbalance Priority: Because fraud accounts for only ~7% of data, Recall and F1-score are far more informative than raw Accuracy.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• Classical SVM Strength: Classical RBF SVM trained on all features achieves stronger recall (~64.3%) and higher discrimination (0.912 ROC-AUC).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• Quantum QSVM Validity: QSVM with ZZFeatureMap successfully maps non-linear correlations into 4-qubit Hilbert space and predicts unseen transactions.</a:t>
            </a:r>
          </a:p>
          <a:p>
            <a:pPr>
              <a:spcAft>
                <a:spcPts val="400"/>
              </a:spcAft>
              <a:defRPr sz="1400">
                <a:solidFill>
                  <a:srgbClr val="D1D5DB"/>
                </a:solidFill>
              </a:defRPr>
            </a:pPr>
            <a:r>
              <a:t>• Quantum Advantage Context: Current NISQ simulators do not exhibit quantum supremacy over mature classical SVMs, but prove the feasibility of the QML pipeline.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4937760" cy="2560320"/>
          </a:xfrm>
          <a:prstGeom prst="roundRect">
            <a:avLst/>
          </a:prstGeom>
          <a:solidFill>
            <a:srgbClr val="2D1B4E"/>
          </a:solidFill>
          <a:ln w="19050">
            <a:solidFill>
              <a:srgbClr val="4F2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E5FF"/>
                </a:solidFill>
              </a:defRPr>
            </a:pPr>
            <a:r>
              <a:t>What We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>
                <a:solidFill>
                  <a:srgbClr val="D1D5DB"/>
                </a:solidFill>
              </a:defRPr>
            </a:pPr>
            <a:r>
              <a:t>• Designed and tested a hybrid quantum-classical fraud detection pipeline.</a:t>
            </a:r>
          </a:p>
          <a:p>
            <a:pPr>
              <a:spcAft>
                <a:spcPts val="600"/>
              </a:spcAft>
              <a:defRPr sz="1400">
                <a:solidFill>
                  <a:srgbClr val="D1D5DB"/>
                </a:solidFill>
              </a:defRPr>
            </a:pPr>
            <a:r>
              <a:t>• Built a genuine 4-qubit QSVM with ZZFeatureMap and Fidelity Quantum Kernel.</a:t>
            </a:r>
          </a:p>
          <a:p>
            <a:pPr>
              <a:spcAft>
                <a:spcPts val="600"/>
              </a:spcAft>
              <a:defRPr sz="1400">
                <a:solidFill>
                  <a:srgbClr val="D1D5DB"/>
                </a:solidFill>
              </a:defRPr>
            </a:pPr>
            <a:r>
              <a:t>• Created an interactive Streamlit live demo with real-time scoring &amp; transaction audit history.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4937760" cy="2560320"/>
          </a:xfrm>
          <a:prstGeom prst="roundRect">
            <a:avLst/>
          </a:prstGeom>
          <a:solidFill>
            <a:srgbClr val="2D1B4E"/>
          </a:solidFill>
          <a:ln w="19050">
            <a:solidFill>
              <a:srgbClr val="4F2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E5FF"/>
                </a:solidFill>
              </a:defRPr>
            </a:pPr>
            <a:r>
              <a:t>Problem Addressed?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>
                <a:solidFill>
                  <a:srgbClr val="D1D5DB"/>
                </a:solidFill>
              </a:defRPr>
            </a:pPr>
            <a:r>
              <a:t>• Yes: Incoming transactions are classified into Legitimate or Suspicious in milliseconds.</a:t>
            </a:r>
          </a:p>
          <a:p>
            <a:pPr>
              <a:spcAft>
                <a:spcPts val="600"/>
              </a:spcAft>
              <a:defRPr sz="1400">
                <a:solidFill>
                  <a:srgbClr val="D1D5DB"/>
                </a:solidFill>
              </a:defRPr>
            </a:pPr>
            <a:r>
              <a:t>• Fraud risk scores dynamically inform approval or manual verification decisions.</a:t>
            </a:r>
          </a:p>
          <a:p>
            <a:pPr>
              <a:spcAft>
                <a:spcPts val="600"/>
              </a:spcAft>
              <a:defRPr sz="1400">
                <a:solidFill>
                  <a:srgbClr val="D1D5DB"/>
                </a:solidFill>
              </a:defRPr>
            </a:pPr>
            <a:r>
              <a:t>• Handles extreme non-linear transactions without crashing.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14800"/>
            <a:ext cx="4937760" cy="2286000"/>
          </a:xfrm>
          <a:prstGeom prst="roundRect">
            <a:avLst/>
          </a:prstGeom>
          <a:solidFill>
            <a:srgbClr val="2D1B4E"/>
          </a:solidFill>
          <a:ln w="19050">
            <a:solidFill>
              <a:srgbClr val="4F2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2976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E5FF"/>
                </a:solidFill>
              </a:defRPr>
            </a:pPr>
            <a:r>
              <a:t>Key Observations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>
                <a:solidFill>
                  <a:srgbClr val="D1D5DB"/>
                </a:solidFill>
              </a:defRPr>
            </a:pPr>
            <a:r>
              <a:t>• Quantum kernels provide access to a rich exponential Hilbert space.</a:t>
            </a:r>
          </a:p>
          <a:p>
            <a:pPr>
              <a:spcAft>
                <a:spcPts val="600"/>
              </a:spcAft>
              <a:defRPr sz="1400">
                <a:solidFill>
                  <a:srgbClr val="D1D5DB"/>
                </a:solidFill>
              </a:defRPr>
            </a:pPr>
            <a:r>
              <a:t>• Requires balanced, reduced datasets on NISQ devices to maintain reasonable simulation times.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114800"/>
            <a:ext cx="4937760" cy="2286000"/>
          </a:xfrm>
          <a:prstGeom prst="roundRect">
            <a:avLst/>
          </a:prstGeom>
          <a:solidFill>
            <a:srgbClr val="2D1B4E"/>
          </a:solidFill>
          <a:ln w="19050">
            <a:solidFill>
              <a:srgbClr val="4F2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2976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E5FF"/>
                </a:solidFill>
              </a:defRPr>
            </a:pPr>
            <a:r>
              <a:t>Future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>
                <a:solidFill>
                  <a:srgbClr val="D1D5DB"/>
                </a:solidFill>
              </a:defRPr>
            </a:pPr>
            <a:r>
              <a:t>• Deployment onto physical cryogenic QPUs (IBM Quantum Heron / Eagle).</a:t>
            </a:r>
          </a:p>
          <a:p>
            <a:pPr>
              <a:spcAft>
                <a:spcPts val="600"/>
              </a:spcAft>
              <a:defRPr sz="1400">
                <a:solidFill>
                  <a:srgbClr val="D1D5DB"/>
                </a:solidFill>
              </a:defRPr>
            </a:pPr>
            <a:r>
              <a:t>• Quantum error mitigation (Zero-Noise Extrapolation).</a:t>
            </a:r>
          </a:p>
          <a:p>
            <a:pPr>
              <a:spcAft>
                <a:spcPts val="600"/>
              </a:spcAft>
              <a:defRPr sz="1400">
                <a:solidFill>
                  <a:srgbClr val="D1D5DB"/>
                </a:solidFill>
              </a:defRPr>
            </a:pPr>
            <a:r>
              <a:t>• Streaming Kafka ingestion for real-time banking gateways.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039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00E5FF"/>
                </a:solidFill>
              </a:defRPr>
            </a:pPr>
            <a:r>
              <a:t>Questions &amp; Answers | Live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